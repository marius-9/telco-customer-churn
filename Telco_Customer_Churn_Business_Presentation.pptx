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31533-0BB2-43BF-8FE1-67C3CEDDD766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1B887-E967-48E3-A562-524D83903B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779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31533-0BB2-43BF-8FE1-67C3CEDDD766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1B887-E967-48E3-A562-524D83903B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6504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31533-0BB2-43BF-8FE1-67C3CEDDD766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1B887-E967-48E3-A562-524D83903B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9287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31533-0BB2-43BF-8FE1-67C3CEDDD766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1B887-E967-48E3-A562-524D83903B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5463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31533-0BB2-43BF-8FE1-67C3CEDDD766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1B887-E967-48E3-A562-524D83903B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1852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31533-0BB2-43BF-8FE1-67C3CEDDD766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1B887-E967-48E3-A562-524D83903B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0977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31533-0BB2-43BF-8FE1-67C3CEDDD766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1B887-E967-48E3-A562-524D83903B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7415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31533-0BB2-43BF-8FE1-67C3CEDDD766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1B887-E967-48E3-A562-524D83903B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0744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31533-0BB2-43BF-8FE1-67C3CEDDD766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1B887-E967-48E3-A562-524D83903B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0985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31533-0BB2-43BF-8FE1-67C3CEDDD766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1B887-E967-48E3-A562-524D83903B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284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31533-0BB2-43BF-8FE1-67C3CEDDD766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1B887-E967-48E3-A562-524D83903B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9306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6431533-0BB2-43BF-8FE1-67C3CEDDD766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B51B887-E967-48E3-A562-524D83903B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70727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DA2580F6-285B-B107-5DD8-3185C792F8C4}"/>
              </a:ext>
            </a:extLst>
          </p:cNvPr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5F5"/>
                </a:solidFill>
              </a:defRPr>
            </a:pPr>
            <a:r>
              <a:rPr dirty="0"/>
              <a:t>Telco Customer Churn Analysis</a:t>
            </a:r>
          </a:p>
          <a:p>
            <a:pPr>
              <a:defRPr sz="2200">
                <a:solidFill>
                  <a:srgbClr val="E1AA3C"/>
                </a:solidFill>
              </a:defRPr>
            </a:pPr>
            <a:r>
              <a:rPr dirty="0"/>
              <a:t>Business Analytics Case Study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ABB9E9C6-7991-3578-3C00-1C63C66BA75A}"/>
              </a:ext>
            </a:extLst>
          </p:cNvPr>
          <p:cNvSpPr txBox="1"/>
          <p:nvPr/>
        </p:nvSpPr>
        <p:spPr>
          <a:xfrm>
            <a:off x="868680" y="33375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EC3C8"/>
                </a:solidFill>
              </a:defRPr>
            </a:pPr>
            <a:r>
              <a:rPr dirty="0"/>
              <a:t>Week 5 | </a:t>
            </a:r>
            <a:r>
              <a:rPr dirty="0" err="1"/>
              <a:t>AnalystLab</a:t>
            </a:r>
            <a:r>
              <a:rPr dirty="0"/>
              <a:t> Africa | Microsoft Power BI | August 2026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AC9D77D3-B868-0D6D-1621-E2620D88A239}"/>
              </a:ext>
            </a:extLst>
          </p:cNvPr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3C8"/>
                </a:solidFill>
              </a:defRPr>
            </a:pPr>
            <a:r>
              <a:t>AnalystLab Africa | Week 5 – Business Analytics Case Study | August 2026     1/7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573B0683-B9F8-9CD4-E3F7-B1FA4AEF29E7}"/>
              </a:ext>
            </a:extLst>
          </p:cNvPr>
          <p:cNvSpPr txBox="1"/>
          <p:nvPr/>
        </p:nvSpPr>
        <p:spPr>
          <a:xfrm>
            <a:off x="7634321" y="5799048"/>
            <a:ext cx="356225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EC3C8"/>
                </a:solidFill>
              </a:defRPr>
            </a:pPr>
            <a:r>
              <a:rPr lang="fr-FR" sz="1400" dirty="0" err="1"/>
              <a:t>Prepared</a:t>
            </a:r>
            <a:r>
              <a:rPr lang="fr-FR" sz="1400" dirty="0"/>
              <a:t> by : </a:t>
            </a:r>
            <a:r>
              <a:rPr lang="fr-FR" dirty="0">
                <a:solidFill>
                  <a:srgbClr val="FFFFFF"/>
                </a:solidFill>
              </a:rPr>
              <a:t>Marius </a:t>
            </a:r>
            <a:r>
              <a:rPr lang="fr-FR" dirty="0" err="1">
                <a:solidFill>
                  <a:srgbClr val="FFFFFF"/>
                </a:solidFill>
              </a:rPr>
              <a:t>Mawaba</a:t>
            </a:r>
            <a:r>
              <a:rPr lang="fr-FR" dirty="0">
                <a:solidFill>
                  <a:srgbClr val="FFFFFF"/>
                </a:solidFill>
              </a:rPr>
              <a:t> BODJONA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431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>
            <a:extLst>
              <a:ext uri="{FF2B5EF4-FFF2-40B4-BE49-F238E27FC236}">
                <a16:creationId xmlns:a16="http://schemas.microsoft.com/office/drawing/2014/main" id="{7935E892-D3E7-A4A0-6584-BE2CB3124ED9}"/>
              </a:ext>
            </a:extLst>
          </p:cNvPr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Business Problem &amp; Objectives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C1850807-2B53-F824-FC7A-DDB9D486CCBE}"/>
              </a:ext>
            </a:extLst>
          </p:cNvPr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5F5"/>
                </a:solidFill>
              </a:defRPr>
            </a:pPr>
            <a:r>
              <a:t>Why are customers leaving the company?</a:t>
            </a:r>
          </a:p>
          <a:p>
            <a:pPr>
              <a:spcAft>
                <a:spcPts val="1200"/>
              </a:spcAft>
              <a:defRPr sz="2100">
                <a:solidFill>
                  <a:srgbClr val="F5F5F5"/>
                </a:solidFill>
              </a:defRPr>
            </a:pPr>
            <a:r>
              <a:t>Which customer and service characteristics are most strongly associated with churn?</a:t>
            </a:r>
          </a:p>
          <a:p>
            <a:pPr>
              <a:spcAft>
                <a:spcPts val="1200"/>
              </a:spcAft>
              <a:defRPr sz="2100">
                <a:solidFill>
                  <a:srgbClr val="F5F5F5"/>
                </a:solidFill>
              </a:defRPr>
            </a:pPr>
            <a:r>
              <a:t>Identify customer groups with higher churn levels.</a:t>
            </a:r>
          </a:p>
          <a:p>
            <a:pPr>
              <a:spcAft>
                <a:spcPts val="1200"/>
              </a:spcAft>
              <a:defRPr sz="2100">
                <a:solidFill>
                  <a:srgbClr val="F5F5F5"/>
                </a:solidFill>
              </a:defRPr>
            </a:pPr>
            <a:r>
              <a:t>Translate the findings into practical retention recommendations.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42B3CF73-3209-EACD-E4FB-97B60A46B5FD}"/>
              </a:ext>
            </a:extLst>
          </p:cNvPr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3C8"/>
                </a:solidFill>
              </a:defRPr>
            </a:pPr>
            <a:r>
              <a:t>AnalystLab Africa | Week 5 – Business Analytics Case Study | August 2026     2/7</a:t>
            </a:r>
          </a:p>
        </p:txBody>
      </p:sp>
    </p:spTree>
    <p:extLst>
      <p:ext uri="{BB962C8B-B14F-4D97-AF65-F5344CB8AC3E}">
        <p14:creationId xmlns:p14="http://schemas.microsoft.com/office/powerpoint/2010/main" val="3983654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07330E-D259-D110-41AE-A6BD898D35F7}"/>
              </a:ext>
            </a:extLst>
          </p:cNvPr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Dataset &amp; Analysis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C9051-EAE4-18FD-F793-723A96CF0CB9}"/>
              </a:ext>
            </a:extLst>
          </p:cNvPr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t>Dataset: Telco Customer Churn — 7043 customers.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t>Variables: tenure, contract, monthly charges, payment method, Internet service, support and customer profile.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t>Data preparation: data types, consistency and data-quality checks.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t>Analysis: KPI creation, exploratory analysis, segmentation and interactive visualization.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t>Tool: Microsoft Power BI.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AB0690-CFD4-ABAE-F827-5C88FC047077}"/>
              </a:ext>
            </a:extLst>
          </p:cNvPr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3C8"/>
                </a:solidFill>
              </a:defRPr>
            </a:pPr>
            <a:r>
              <a:t>AnalystLab Africa | Week 5 – Business Analytics Case Study | August 2026     3/7</a:t>
            </a:r>
          </a:p>
        </p:txBody>
      </p:sp>
    </p:spTree>
    <p:extLst>
      <p:ext uri="{BB962C8B-B14F-4D97-AF65-F5344CB8AC3E}">
        <p14:creationId xmlns:p14="http://schemas.microsoft.com/office/powerpoint/2010/main" val="2644574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F3EC08-C6CC-ED8F-4D44-641A7D3E9B76}"/>
              </a:ext>
            </a:extLst>
          </p:cNvPr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Churn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F948DB-2994-438D-C12A-3330625BBB01}"/>
              </a:ext>
            </a:extLst>
          </p:cNvPr>
          <p:cNvSpPr txBox="1"/>
          <p:nvPr/>
        </p:nvSpPr>
        <p:spPr>
          <a:xfrm>
            <a:off x="658368" y="1051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C3C8"/>
                </a:solidFill>
              </a:defRPr>
            </a:pPr>
            <a:r>
              <a:t>Key performance indicators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0DB474-70EE-708E-2B5A-A9FB66BB0435}"/>
              </a:ext>
            </a:extLst>
          </p:cNvPr>
          <p:cNvSpPr/>
          <p:nvPr/>
        </p:nvSpPr>
        <p:spPr>
          <a:xfrm>
            <a:off x="731520" y="1920240"/>
            <a:ext cx="2514600" cy="1325880"/>
          </a:xfrm>
          <a:prstGeom prst="rect">
            <a:avLst/>
          </a:prstGeom>
          <a:solidFill>
            <a:srgbClr val="1C2229"/>
          </a:solidFill>
          <a:ln>
            <a:solidFill>
              <a:srgbClr val="E1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1AA3C"/>
                </a:solidFill>
              </a:defRPr>
            </a:pPr>
            <a:r>
              <a:t>7043</a:t>
            </a:r>
          </a:p>
          <a:p>
            <a:pPr algn="ctr">
              <a:defRPr sz="1100">
                <a:solidFill>
                  <a:srgbClr val="F5F5F5"/>
                </a:solidFill>
              </a:defRPr>
            </a:pPr>
            <a:r>
              <a:t>Total Customers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0010B1-0E9C-B981-E3EF-7D1331737E2D}"/>
              </a:ext>
            </a:extLst>
          </p:cNvPr>
          <p:cNvSpPr/>
          <p:nvPr/>
        </p:nvSpPr>
        <p:spPr>
          <a:xfrm>
            <a:off x="3474720" y="1920240"/>
            <a:ext cx="2514600" cy="1325880"/>
          </a:xfrm>
          <a:prstGeom prst="rect">
            <a:avLst/>
          </a:prstGeom>
          <a:solidFill>
            <a:srgbClr val="1C2229"/>
          </a:solidFill>
          <a:ln>
            <a:solidFill>
              <a:srgbClr val="E1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1AA3C"/>
                </a:solidFill>
              </a:defRPr>
            </a:pPr>
            <a:r>
              <a:t>1869</a:t>
            </a:r>
          </a:p>
          <a:p>
            <a:pPr algn="ctr">
              <a:defRPr sz="1100">
                <a:solidFill>
                  <a:srgbClr val="F5F5F5"/>
                </a:solidFill>
              </a:defRPr>
            </a:pPr>
            <a:r>
              <a:t>Churned Customers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F94D8A-4399-F065-388D-B45068A4A20B}"/>
              </a:ext>
            </a:extLst>
          </p:cNvPr>
          <p:cNvSpPr/>
          <p:nvPr/>
        </p:nvSpPr>
        <p:spPr>
          <a:xfrm>
            <a:off x="6217920" y="1920240"/>
            <a:ext cx="2514600" cy="1325880"/>
          </a:xfrm>
          <a:prstGeom prst="rect">
            <a:avLst/>
          </a:prstGeom>
          <a:solidFill>
            <a:srgbClr val="1C2229"/>
          </a:solidFill>
          <a:ln>
            <a:solidFill>
              <a:srgbClr val="E1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1AA3C"/>
                </a:solidFill>
              </a:defRPr>
            </a:pPr>
            <a:r>
              <a:t>5174</a:t>
            </a:r>
          </a:p>
          <a:p>
            <a:pPr algn="ctr">
              <a:defRPr sz="1100">
                <a:solidFill>
                  <a:srgbClr val="F5F5F5"/>
                </a:solidFill>
              </a:defRPr>
            </a:pPr>
            <a:r>
              <a:t>Retained Customers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525369-AA3B-1130-552B-3F2144E10712}"/>
              </a:ext>
            </a:extLst>
          </p:cNvPr>
          <p:cNvSpPr/>
          <p:nvPr/>
        </p:nvSpPr>
        <p:spPr>
          <a:xfrm>
            <a:off x="8961120" y="1920240"/>
            <a:ext cx="2514600" cy="1325880"/>
          </a:xfrm>
          <a:prstGeom prst="rect">
            <a:avLst/>
          </a:prstGeom>
          <a:solidFill>
            <a:srgbClr val="1C2229"/>
          </a:solidFill>
          <a:ln>
            <a:solidFill>
              <a:srgbClr val="E1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1AA3C"/>
                </a:solidFill>
              </a:defRPr>
            </a:pPr>
            <a:r>
              <a:t>26.54%</a:t>
            </a:r>
          </a:p>
          <a:p>
            <a:pPr algn="ctr">
              <a:defRPr sz="1100">
                <a:solidFill>
                  <a:srgbClr val="F5F5F5"/>
                </a:solidFill>
              </a:defRPr>
            </a:pPr>
            <a:r>
              <a:t>Churn Rate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66F2C2-53D6-B50F-7F4D-8361D5B1EBE1}"/>
              </a:ext>
            </a:extLst>
          </p:cNvPr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3C8"/>
                </a:solidFill>
              </a:defRPr>
            </a:pPr>
            <a:r>
              <a:t>AnalystLab Africa | Week 5 – Business Analytics Case Study | August 2026     4/7</a:t>
            </a:r>
          </a:p>
        </p:txBody>
      </p:sp>
    </p:spTree>
    <p:extLst>
      <p:ext uri="{BB962C8B-B14F-4D97-AF65-F5344CB8AC3E}">
        <p14:creationId xmlns:p14="http://schemas.microsoft.com/office/powerpoint/2010/main" val="3793987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547318-7553-AA11-C6B9-055A683B0235}"/>
              </a:ext>
            </a:extLst>
          </p:cNvPr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Key Churn Drivers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7467AA-3789-9F9B-85E0-601DDCCE859C}"/>
              </a:ext>
            </a:extLst>
          </p:cNvPr>
          <p:cNvSpPr/>
          <p:nvPr/>
        </p:nvSpPr>
        <p:spPr>
          <a:xfrm>
            <a:off x="822960" y="1645920"/>
            <a:ext cx="2514600" cy="1325880"/>
          </a:xfrm>
          <a:prstGeom prst="rect">
            <a:avLst/>
          </a:prstGeom>
          <a:solidFill>
            <a:srgbClr val="1C2229"/>
          </a:solidFill>
          <a:ln>
            <a:solidFill>
              <a:srgbClr val="E1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1AA3C"/>
                </a:solidFill>
              </a:defRPr>
            </a:pPr>
            <a:r>
              <a:t>1655</a:t>
            </a:r>
          </a:p>
          <a:p>
            <a:pPr algn="ctr">
              <a:defRPr sz="1100">
                <a:solidFill>
                  <a:srgbClr val="F5F5F5"/>
                </a:solidFill>
              </a:defRPr>
            </a:pPr>
            <a:r>
              <a:t>Month-to-month contract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40377E-F81A-88DD-2B05-4EA3B29B860A}"/>
              </a:ext>
            </a:extLst>
          </p:cNvPr>
          <p:cNvSpPr/>
          <p:nvPr/>
        </p:nvSpPr>
        <p:spPr>
          <a:xfrm>
            <a:off x="6309360" y="1645920"/>
            <a:ext cx="2514600" cy="1325880"/>
          </a:xfrm>
          <a:prstGeom prst="rect">
            <a:avLst/>
          </a:prstGeom>
          <a:solidFill>
            <a:srgbClr val="1C2229"/>
          </a:solidFill>
          <a:ln>
            <a:solidFill>
              <a:srgbClr val="E1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1AA3C"/>
                </a:solidFill>
              </a:defRPr>
            </a:pPr>
            <a:r>
              <a:t>1297</a:t>
            </a:r>
          </a:p>
          <a:p>
            <a:pPr algn="ctr">
              <a:defRPr sz="1100">
                <a:solidFill>
                  <a:srgbClr val="F5F5F5"/>
                </a:solidFill>
              </a:defRPr>
            </a:pPr>
            <a:r>
              <a:t>Fiber optic customers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5567A0-676C-ED81-DB69-6BF5B6E6A83E}"/>
              </a:ext>
            </a:extLst>
          </p:cNvPr>
          <p:cNvSpPr/>
          <p:nvPr/>
        </p:nvSpPr>
        <p:spPr>
          <a:xfrm>
            <a:off x="822960" y="3657600"/>
            <a:ext cx="2514600" cy="1325880"/>
          </a:xfrm>
          <a:prstGeom prst="rect">
            <a:avLst/>
          </a:prstGeom>
          <a:solidFill>
            <a:srgbClr val="1C2229"/>
          </a:solidFill>
          <a:ln>
            <a:solidFill>
              <a:srgbClr val="E1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1AA3C"/>
                </a:solidFill>
              </a:defRPr>
            </a:pPr>
            <a:r>
              <a:t>1071</a:t>
            </a:r>
          </a:p>
          <a:p>
            <a:pPr algn="ctr">
              <a:defRPr sz="1100">
                <a:solidFill>
                  <a:srgbClr val="F5F5F5"/>
                </a:solidFill>
              </a:defRPr>
            </a:pPr>
            <a:r>
              <a:t>Electronic check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674866-9D5E-BFAE-A96F-1ACA39FF7AD2}"/>
              </a:ext>
            </a:extLst>
          </p:cNvPr>
          <p:cNvSpPr/>
          <p:nvPr/>
        </p:nvSpPr>
        <p:spPr>
          <a:xfrm>
            <a:off x="6309360" y="3657600"/>
            <a:ext cx="2514600" cy="1325880"/>
          </a:xfrm>
          <a:prstGeom prst="rect">
            <a:avLst/>
          </a:prstGeom>
          <a:solidFill>
            <a:srgbClr val="1C2229"/>
          </a:solidFill>
          <a:ln>
            <a:solidFill>
              <a:srgbClr val="E1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1AA3C"/>
                </a:solidFill>
              </a:defRPr>
            </a:pPr>
            <a:r>
              <a:t>1446</a:t>
            </a:r>
          </a:p>
          <a:p>
            <a:pPr algn="ctr">
              <a:defRPr sz="1100">
                <a:solidFill>
                  <a:srgbClr val="F5F5F5"/>
                </a:solidFill>
              </a:defRPr>
            </a:pPr>
            <a:r>
              <a:t>No Tech Support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4B4E42-61E2-47DA-34E4-75EA513D0829}"/>
              </a:ext>
            </a:extLst>
          </p:cNvPr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3C8"/>
                </a:solidFill>
              </a:defRPr>
            </a:pPr>
            <a:r>
              <a:t>AnalystLab Africa | Week 5 – Business Analytics Case Study | August 2026     5/7</a:t>
            </a:r>
          </a:p>
        </p:txBody>
      </p:sp>
    </p:spTree>
    <p:extLst>
      <p:ext uri="{BB962C8B-B14F-4D97-AF65-F5344CB8AC3E}">
        <p14:creationId xmlns:p14="http://schemas.microsoft.com/office/powerpoint/2010/main" val="3212558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92D1A2-1091-8D03-E886-F3FBE77F48FC}"/>
              </a:ext>
            </a:extLst>
          </p:cNvPr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Business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CB1F93-6A80-768A-71E2-3AEC6D3AEEC3}"/>
              </a:ext>
            </a:extLst>
          </p:cNvPr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5F5"/>
                </a:solidFill>
              </a:defRPr>
            </a:pPr>
            <a:r>
              <a:t>Month-to-month customers show substantially higher churn than customers on longer-term contracts.</a:t>
            </a:r>
          </a:p>
          <a:p>
            <a:pPr>
              <a:spcAft>
                <a:spcPts val="1200"/>
              </a:spcAft>
              <a:defRPr sz="1600">
                <a:solidFill>
                  <a:srgbClr val="F5F5F5"/>
                </a:solidFill>
              </a:defRPr>
            </a:pPr>
            <a:r>
              <a:t>Customers with shorter tenure require stronger early engagement and follow-up.</a:t>
            </a:r>
          </a:p>
          <a:p>
            <a:pPr>
              <a:spcAft>
                <a:spcPts val="1200"/>
              </a:spcAft>
              <a:defRPr sz="1600">
                <a:solidFill>
                  <a:srgbClr val="F5F5F5"/>
                </a:solidFill>
              </a:defRPr>
            </a:pPr>
            <a:r>
              <a:t>High churn among customers without Tech Support and other value-added services suggests opportunities to strengthen perceived service value.</a:t>
            </a:r>
          </a:p>
          <a:p>
            <a:pPr>
              <a:spcAft>
                <a:spcPts val="1200"/>
              </a:spcAft>
              <a:defRPr sz="1600">
                <a:solidFill>
                  <a:srgbClr val="F5F5F5"/>
                </a:solidFill>
              </a:defRPr>
            </a:pPr>
            <a:r>
              <a:t>Fiber optic and Electronic check segments deserve further investigation and targeted retention actions.</a:t>
            </a:r>
          </a:p>
          <a:p>
            <a:pPr>
              <a:spcAft>
                <a:spcPts val="1200"/>
              </a:spcAft>
              <a:defRPr sz="1600">
                <a:solidFill>
                  <a:srgbClr val="F5F5F5"/>
                </a:solidFill>
              </a:defRPr>
            </a:pPr>
            <a:r>
              <a:t>These findings show associations in the data; they do not by themselves prove direct causation.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2A418-5010-B03F-BC59-28EEA6DAAADE}"/>
              </a:ext>
            </a:extLst>
          </p:cNvPr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3C8"/>
                </a:solidFill>
              </a:defRPr>
            </a:pPr>
            <a:r>
              <a:t>AnalystLab Africa | Week 5 – Business Analytics Case Study | August 2026     6/7</a:t>
            </a:r>
          </a:p>
        </p:txBody>
      </p:sp>
    </p:spTree>
    <p:extLst>
      <p:ext uri="{BB962C8B-B14F-4D97-AF65-F5344CB8AC3E}">
        <p14:creationId xmlns:p14="http://schemas.microsoft.com/office/powerpoint/2010/main" val="1317263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89140B-2370-8217-9C53-D5241CDAD144}"/>
              </a:ext>
            </a:extLst>
          </p:cNvPr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Recommendations &amp; 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9709F1-6EA0-5A25-2293-3C921CAC3FBF}"/>
              </a:ext>
            </a:extLst>
          </p:cNvPr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550">
                <a:solidFill>
                  <a:srgbClr val="F5F5F5"/>
                </a:solidFill>
              </a:defRPr>
            </a:pPr>
            <a:r>
              <a:t>1. Encourage long-term contracts through loyalty incentives and preferential offers.</a:t>
            </a:r>
          </a:p>
          <a:p>
            <a:pPr>
              <a:spcAft>
                <a:spcPts val="1200"/>
              </a:spcAft>
              <a:defRPr sz="1550">
                <a:solidFill>
                  <a:srgbClr val="F5F5F5"/>
                </a:solidFill>
              </a:defRPr>
            </a:pPr>
            <a:r>
              <a:t>2. Strengthen onboarding and engagement during the first months.</a:t>
            </a:r>
          </a:p>
          <a:p>
            <a:pPr>
              <a:spcAft>
                <a:spcPts val="1200"/>
              </a:spcAft>
              <a:defRPr sz="1550">
                <a:solidFill>
                  <a:srgbClr val="F5F5F5"/>
                </a:solidFill>
              </a:defRPr>
            </a:pPr>
            <a:r>
              <a:t>3. Review the perceived value, pricing and experience of Internet services.</a:t>
            </a:r>
          </a:p>
          <a:p>
            <a:pPr>
              <a:spcAft>
                <a:spcPts val="1200"/>
              </a:spcAft>
              <a:defRPr sz="1550">
                <a:solidFill>
                  <a:srgbClr val="F5F5F5"/>
                </a:solidFill>
              </a:defRPr>
            </a:pPr>
            <a:r>
              <a:t>4. Promote Tech Support, Online Security and Online Backup where relevant.</a:t>
            </a:r>
          </a:p>
          <a:p>
            <a:pPr>
              <a:spcAft>
                <a:spcPts val="1200"/>
              </a:spcAft>
              <a:defRPr sz="1550">
                <a:solidFill>
                  <a:srgbClr val="F5F5F5"/>
                </a:solidFill>
              </a:defRPr>
            </a:pPr>
            <a:r>
              <a:t>5. Build targeted retention campaigns using contract, tenure, charges and services.</a:t>
            </a:r>
          </a:p>
          <a:p>
            <a:pPr>
              <a:spcAft>
                <a:spcPts val="1200"/>
              </a:spcAft>
              <a:defRPr sz="1550">
                <a:solidFill>
                  <a:srgbClr val="F5F5F5"/>
                </a:solidFill>
              </a:defRPr>
            </a:pPr>
            <a:r>
              <a:t>Conclusion: Power BI analysis turns customer data into actionable insights for retention decisions.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113211-ABAF-F2F6-7AA6-7D71990AEFC2}"/>
              </a:ext>
            </a:extLst>
          </p:cNvPr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3C8"/>
                </a:solidFill>
              </a:defRPr>
            </a:pPr>
            <a:r>
              <a:t>AnalystLab Africa | Week 5 – Business Analytics Case Study | August 2026     7/7</a:t>
            </a:r>
          </a:p>
        </p:txBody>
      </p:sp>
    </p:spTree>
    <p:extLst>
      <p:ext uri="{BB962C8B-B14F-4D97-AF65-F5344CB8AC3E}">
        <p14:creationId xmlns:p14="http://schemas.microsoft.com/office/powerpoint/2010/main" val="4239686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LCO">
      <a:dk1>
        <a:srgbClr val="12161B"/>
      </a:dk1>
      <a:lt1>
        <a:srgbClr val="F5F5F5"/>
      </a:lt1>
      <a:dk2>
        <a:srgbClr val="1C2229"/>
      </a:dk2>
      <a:lt2>
        <a:srgbClr val="BEC3C8"/>
      </a:lt2>
      <a:accent1>
        <a:srgbClr val="E1AA3C"/>
      </a:accent1>
      <a:accent2>
        <a:srgbClr val="FF5C5C"/>
      </a:accent2>
      <a:accent3>
        <a:srgbClr val="5ED39A"/>
      </a:accent3>
      <a:accent4>
        <a:srgbClr val="F4A261"/>
      </a:accent4>
      <a:accent5>
        <a:srgbClr val="4E9FCD"/>
      </a:accent5>
      <a:accent6>
        <a:srgbClr val="A56CC1"/>
      </a:accent6>
      <a:hlink>
        <a:srgbClr val="4E9FCD"/>
      </a:hlink>
      <a:folHlink>
        <a:srgbClr val="A56CC1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420</Words>
  <Application>Microsoft Office PowerPoint</Application>
  <PresentationFormat>Grand écran</PresentationFormat>
  <Paragraphs>54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Marius BODJONA</dc:creator>
  <cp:lastModifiedBy>Marius BODJONA</cp:lastModifiedBy>
  <cp:revision>1</cp:revision>
  <dcterms:created xsi:type="dcterms:W3CDTF">2026-08-17T23:25:21Z</dcterms:created>
  <dcterms:modified xsi:type="dcterms:W3CDTF">2026-08-17T23:58:44Z</dcterms:modified>
</cp:coreProperties>
</file>